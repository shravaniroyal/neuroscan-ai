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7" r:id="rId4"/>
    <p:sldId id="261" r:id="rId5"/>
    <p:sldId id="269" r:id="rId6"/>
    <p:sldId id="260" r:id="rId7"/>
    <p:sldId id="262" r:id="rId8"/>
    <p:sldId id="263" r:id="rId9"/>
    <p:sldId id="264" r:id="rId10"/>
    <p:sldId id="265" r:id="rId11"/>
    <p:sldId id="270" r:id="rId12"/>
    <p:sldId id="266" r:id="rId13"/>
  </p:sldIdLst>
  <p:sldSz cx="9144000" cy="5143500" type="screen16x9"/>
  <p:notesSz cx="6858000" cy="9144000"/>
  <p:embeddedFontLst>
    <p:embeddedFont>
      <p:font typeface="Manrope" panose="020B0604020202020204" charset="0"/>
      <p:regular r:id="rId15"/>
      <p:bold r:id="rId16"/>
    </p:embeddedFont>
    <p:embeddedFont>
      <p:font typeface="Manrope SemiBold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D4FC0A2-909D-4AD9-FFC9-F4F74943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244FAFFA-F705-74B4-232D-75E1D9916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08723521-84AB-B512-8203-E9FECBD2D4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98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A5FC701-4F7A-9918-2DD7-7387C1DB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>
            <a:extLst>
              <a:ext uri="{FF2B5EF4-FFF2-40B4-BE49-F238E27FC236}">
                <a16:creationId xmlns:a16="http://schemas.microsoft.com/office/drawing/2014/main" id="{E965620A-2E8D-D6D2-74F9-107682944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>
            <a:extLst>
              <a:ext uri="{FF2B5EF4-FFF2-40B4-BE49-F238E27FC236}">
                <a16:creationId xmlns:a16="http://schemas.microsoft.com/office/drawing/2014/main" id="{98FC09DD-EFEF-EA2A-241A-F3A3B8057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174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3D07656-048B-015C-C927-084184E1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>
            <a:extLst>
              <a:ext uri="{FF2B5EF4-FFF2-40B4-BE49-F238E27FC236}">
                <a16:creationId xmlns:a16="http://schemas.microsoft.com/office/drawing/2014/main" id="{934AC3D2-732F-8595-562F-8CA3653D7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>
            <a:extLst>
              <a:ext uri="{FF2B5EF4-FFF2-40B4-BE49-F238E27FC236}">
                <a16:creationId xmlns:a16="http://schemas.microsoft.com/office/drawing/2014/main" id="{8428B28B-6C2B-089E-74D4-EBF227EFF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9731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68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IN" sz="1600" dirty="0" err="1">
                <a:latin typeface="Manrope "/>
              </a:rPr>
              <a:t>NeuroVision</a:t>
            </a:r>
            <a:r>
              <a:rPr lang="en-GB" sz="1600" dirty="0">
                <a:solidFill>
                  <a:srgbClr val="202729"/>
                </a:solidFill>
                <a:latin typeface="Manrope "/>
                <a:ea typeface="Manrope SemiBold"/>
                <a:cs typeface="Manrope SemiBold"/>
                <a:sym typeface="Manrope SemiBold"/>
              </a:rPr>
              <a:t> </a:t>
            </a:r>
            <a:endParaRPr sz="1600" dirty="0">
              <a:solidFill>
                <a:srgbClr val="202729"/>
              </a:solidFill>
              <a:latin typeface="Manrope 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59"/>
            <a:ext cx="8520600" cy="652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600" dirty="0">
                <a:latin typeface="Manrope "/>
              </a:rPr>
              <a:t>AI for Healthcare &amp; Life Sciences</a:t>
            </a:r>
          </a:p>
          <a:p>
            <a:pPr lvl="0">
              <a:lnSpc>
                <a:spcPct val="70000"/>
              </a:lnSpc>
            </a:pPr>
            <a:endParaRPr lang="en-US" sz="1600" dirty="0">
              <a:latin typeface="Manrope "/>
            </a:endParaRPr>
          </a:p>
          <a:p>
            <a:pPr lvl="0">
              <a:lnSpc>
                <a:spcPct val="70000"/>
              </a:lnSpc>
            </a:pPr>
            <a:r>
              <a:rPr lang="en-US" sz="1600" dirty="0">
                <a:solidFill>
                  <a:srgbClr val="202729"/>
                </a:solidFill>
                <a:latin typeface="Manrope "/>
                <a:ea typeface="Manrope SemiBold"/>
                <a:cs typeface="Manrope SemiBold"/>
                <a:sym typeface="Manrope SemiBold"/>
              </a:rPr>
              <a:t>                                                  (</a:t>
            </a:r>
            <a:r>
              <a:rPr lang="en-US" sz="1600" dirty="0" err="1">
                <a:latin typeface="Manrope "/>
              </a:rPr>
              <a:t>NeuroScan</a:t>
            </a:r>
            <a:r>
              <a:rPr lang="en-US" sz="1600" dirty="0">
                <a:latin typeface="Manrope "/>
              </a:rPr>
              <a:t> AI - Predicting Strokes &amp; Dementia Years Before</a:t>
            </a:r>
            <a:r>
              <a:rPr lang="en-US" sz="1600" dirty="0">
                <a:solidFill>
                  <a:srgbClr val="202729"/>
                </a:solidFill>
                <a:latin typeface="Manrope "/>
                <a:ea typeface="Manrope SemiBold"/>
                <a:cs typeface="Manrope SemiBold"/>
                <a:sym typeface="Manrope SemiBold"/>
              </a:rPr>
              <a:t>)</a:t>
            </a:r>
            <a:endParaRPr sz="1600" dirty="0">
              <a:solidFill>
                <a:srgbClr val="202729"/>
              </a:solidFill>
              <a:latin typeface="Manrope 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lang="en-GB" sz="1600" dirty="0">
                <a:solidFill>
                  <a:srgbClr val="202729"/>
                </a:solidFill>
                <a:latin typeface="Manrope "/>
                <a:ea typeface="Manrope SemiBold"/>
                <a:cs typeface="Manrope SemiBold"/>
                <a:sym typeface="Manrope SemiBold"/>
              </a:rPr>
              <a:t>Shravani R S</a:t>
            </a:r>
            <a:endParaRPr sz="1600" dirty="0">
              <a:solidFill>
                <a:srgbClr val="202729"/>
              </a:solidFill>
              <a:latin typeface="Manrope 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892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67B671-A857-3DEC-F0B8-07FBA7E4FBBA}"/>
              </a:ext>
            </a:extLst>
          </p:cNvPr>
          <p:cNvSpPr txBox="1"/>
          <p:nvPr/>
        </p:nvSpPr>
        <p:spPr>
          <a:xfrm>
            <a:off x="4237463" y="1134697"/>
            <a:ext cx="4906537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200"/>
              </a:spcAft>
              <a:buSzPts val="935"/>
            </a:pPr>
            <a:r>
              <a:rPr lang="en-US" sz="1200" b="1" dirty="0">
                <a:latin typeface="Manrope "/>
              </a:rPr>
              <a:t>THE OPPORTUNITY:</a:t>
            </a:r>
          </a:p>
          <a:p>
            <a:pPr marL="171450" lvl="0" indent="-171450"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dirty="0">
                <a:latin typeface="Manrope "/>
              </a:rPr>
              <a:t>Research proves: Brain changes appear 5-10 years before stroke/dementia</a:t>
            </a:r>
          </a:p>
          <a:p>
            <a:pPr marL="171450" lvl="0" indent="-171450"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dirty="0">
                <a:latin typeface="Manrope "/>
              </a:rPr>
              <a:t>Technology gap: Breakthrough AI stuck in research labs, not reaching rural India</a:t>
            </a:r>
          </a:p>
          <a:p>
            <a:pPr marL="171450" lvl="0" indent="-171450"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dirty="0">
                <a:latin typeface="Manrope "/>
              </a:rPr>
              <a:t>Cost barrier: Traditional neurological screening costs ₹15,000+</a:t>
            </a:r>
            <a:br>
              <a:rPr lang="en-US" sz="1200" b="1" dirty="0">
                <a:latin typeface="Manrope "/>
              </a:rPr>
            </a:br>
            <a:br>
              <a:rPr lang="en-US" sz="1200" b="1" dirty="0">
                <a:latin typeface="Manrope "/>
              </a:rPr>
            </a:br>
            <a:r>
              <a:rPr lang="en-US" sz="1200" b="1" dirty="0">
                <a:latin typeface="Manrope "/>
              </a:rPr>
              <a:t>OUR SOLUTION:</a:t>
            </a:r>
          </a:p>
          <a:p>
            <a:pPr marL="171450" lvl="0" indent="-171450"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dirty="0" err="1">
                <a:latin typeface="Manrope "/>
              </a:rPr>
              <a:t>NeuroScan</a:t>
            </a:r>
            <a:r>
              <a:rPr lang="en-US" sz="1200" dirty="0">
                <a:latin typeface="Manrope "/>
              </a:rPr>
              <a:t> AI analyzes brain MRI scans using deep learning to predict stroke and dementia risk years in advance, making advanced neurology accessible to 25,000 Primary Health Centers across India at ₹200 per screening.</a:t>
            </a:r>
          </a:p>
          <a:p>
            <a:endParaRPr lang="en-IN" sz="1200" dirty="0">
              <a:latin typeface="Manrope 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D5C8F-1ABD-97C6-2179-1A212961CD97}"/>
              </a:ext>
            </a:extLst>
          </p:cNvPr>
          <p:cNvSpPr txBox="1"/>
          <p:nvPr/>
        </p:nvSpPr>
        <p:spPr>
          <a:xfrm>
            <a:off x="74342" y="1134697"/>
            <a:ext cx="41333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200"/>
              </a:spcAft>
              <a:buSzPts val="935"/>
            </a:pPr>
            <a:r>
              <a:rPr lang="en-US" sz="1200" dirty="0" err="1">
                <a:latin typeface="Manrope "/>
              </a:rPr>
              <a:t>NeuroScan</a:t>
            </a:r>
            <a:r>
              <a:rPr lang="en-US" sz="1200" dirty="0">
                <a:latin typeface="Manrope "/>
              </a:rPr>
              <a:t> AI - Predicting Strokes &amp; Dementia Years Before       Symptoms Appear</a:t>
            </a:r>
          </a:p>
          <a:p>
            <a:pPr lvl="0">
              <a:spcAft>
                <a:spcPts val="1200"/>
              </a:spcAft>
              <a:buSzPts val="935"/>
            </a:pPr>
            <a:r>
              <a:rPr lang="en-US" sz="1200" b="1" dirty="0">
                <a:latin typeface="Manrope "/>
              </a:rPr>
              <a:t>THE PROBLEM:</a:t>
            </a:r>
          </a:p>
          <a:p>
            <a:pPr marL="171450" lvl="0" indent="-171450"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dirty="0">
                <a:latin typeface="Manrope "/>
              </a:rPr>
              <a:t>India: 1.8 million strokes annually (75% preventable)</a:t>
            </a:r>
          </a:p>
          <a:p>
            <a:pPr marL="171450" lvl="0" indent="-171450"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dirty="0">
                <a:latin typeface="Manrope "/>
              </a:rPr>
              <a:t>Rural areas: 1 neurologist per 250,000 people</a:t>
            </a:r>
          </a:p>
          <a:p>
            <a:pPr marL="171450" lvl="0" indent="-171450"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dirty="0">
                <a:latin typeface="Manrope "/>
              </a:rPr>
              <a:t>Current diagnosis: Reactive (after symptoms appear)</a:t>
            </a:r>
          </a:p>
          <a:p>
            <a:pPr marL="171450" lvl="0" indent="-171450"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dirty="0">
                <a:latin typeface="Manrope "/>
              </a:rPr>
              <a:t>Hidden information: Brain MRI contains predictive biomarkers invisible to radiologists</a:t>
            </a:r>
          </a:p>
          <a:p>
            <a:endParaRPr lang="en-IN" sz="1200" dirty="0">
              <a:latin typeface="Manrope 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D34FF-C463-DB4D-5637-F090F65F4F0C}"/>
              </a:ext>
            </a:extLst>
          </p:cNvPr>
          <p:cNvSpPr txBox="1"/>
          <p:nvPr/>
        </p:nvSpPr>
        <p:spPr>
          <a:xfrm>
            <a:off x="74342" y="523537"/>
            <a:ext cx="322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Manrope "/>
              </a:rPr>
              <a:t>Brief about the Idea: </a:t>
            </a:r>
            <a:endParaRPr lang="en-US" sz="1800" b="1" dirty="0">
              <a:latin typeface="Manrope 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DAFFE04-8D88-E34C-A988-A0F9B4A7D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EDB82570-3425-8F2D-CF85-DFA957B0E6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9153897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5AF0BE-04CB-4BEB-B258-77CE0F5DD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066444"/>
              </p:ext>
            </p:extLst>
          </p:nvPr>
        </p:nvGraphicFramePr>
        <p:xfrm>
          <a:off x="311148" y="1016635"/>
          <a:ext cx="8530908" cy="2346960"/>
        </p:xfrm>
        <a:graphic>
          <a:graphicData uri="http://schemas.openxmlformats.org/drawingml/2006/table">
            <a:tbl>
              <a:tblPr/>
              <a:tblGrid>
                <a:gridCol w="4265454">
                  <a:extLst>
                    <a:ext uri="{9D8B030D-6E8A-4147-A177-3AD203B41FA5}">
                      <a16:colId xmlns:a16="http://schemas.microsoft.com/office/drawing/2014/main" val="3072547159"/>
                    </a:ext>
                  </a:extLst>
                </a:gridCol>
                <a:gridCol w="4265454">
                  <a:extLst>
                    <a:ext uri="{9D8B030D-6E8A-4147-A177-3AD203B41FA5}">
                      <a16:colId xmlns:a16="http://schemas.microsoft.com/office/drawing/2014/main" val="3146834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Manrope "/>
                        </a:rPr>
                        <a:t>Existing Solutions</a:t>
                      </a:r>
                      <a:endParaRPr lang="en-IN">
                        <a:latin typeface="Manrope 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>
                          <a:latin typeface="Manrope "/>
                        </a:rPr>
                        <a:t>NeuroScan</a:t>
                      </a:r>
                      <a:r>
                        <a:rPr lang="en-IN" b="1" dirty="0">
                          <a:latin typeface="Manrope "/>
                        </a:rPr>
                        <a:t> AI</a:t>
                      </a:r>
                      <a:endParaRPr lang="en-IN" dirty="0">
                        <a:latin typeface="Manrope 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626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Manrope "/>
                        </a:rPr>
                        <a:t>Focus on single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Manrope "/>
                        </a:rPr>
                        <a:t>7 comprehensive assessments</a:t>
                      </a:r>
                      <a:r>
                        <a:rPr lang="en-US">
                          <a:latin typeface="Manrope "/>
                        </a:rPr>
                        <a:t> in one scan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604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Manrope "/>
                        </a:rPr>
                        <a:t>Black-box AI with no explanations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Manrope "/>
                        </a:rPr>
                        <a:t>Visual explanations</a:t>
                      </a:r>
                      <a:r>
                        <a:rPr lang="en-US">
                          <a:latin typeface="Manrope "/>
                        </a:rPr>
                        <a:t> showing brain regions at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86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Manrope "/>
                        </a:rPr>
                        <a:t>Cost ₹2,000+ per consultation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Manrope "/>
                        </a:rPr>
                        <a:t>₹200 per screening</a:t>
                      </a:r>
                      <a:r>
                        <a:rPr lang="en-US">
                          <a:latin typeface="Manrope "/>
                        </a:rPr>
                        <a:t> - 90% cost reduction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46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Manrope "/>
                        </a:rPr>
                        <a:t>Require stable internet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Manrope "/>
                        </a:rPr>
                        <a:t>Offline report viewing</a:t>
                      </a:r>
                      <a:r>
                        <a:rPr lang="en-US">
                          <a:latin typeface="Manrope "/>
                        </a:rPr>
                        <a:t> for poor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499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Manrope "/>
                        </a:rPr>
                        <a:t>English-only interfaces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Manrope "/>
                        </a:rPr>
                        <a:t>Multi-language support</a:t>
                      </a:r>
                      <a:r>
                        <a:rPr lang="en-IN">
                          <a:latin typeface="Manrope "/>
                        </a:rPr>
                        <a:t> - Hindi &amp; regional languages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07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Manrope "/>
                        </a:rPr>
                        <a:t>Desktop-dependent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Manrope "/>
                        </a:rPr>
                        <a:t>WhatsApp sharing</a:t>
                      </a:r>
                      <a:r>
                        <a:rPr lang="en-US" dirty="0">
                          <a:latin typeface="Manrope "/>
                        </a:rPr>
                        <a:t> for rural accessibility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13915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2854546-E585-B4F4-C1EE-F314A0FF2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48" y="554159"/>
            <a:ext cx="4074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"/>
              </a:rPr>
              <a:t>How It's Different: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08147-1B92-C8E3-2C2F-7B7035A0A260}"/>
              </a:ext>
            </a:extLst>
          </p:cNvPr>
          <p:cNvSpPr txBox="1"/>
          <p:nvPr/>
        </p:nvSpPr>
        <p:spPr>
          <a:xfrm>
            <a:off x="399415" y="3686810"/>
            <a:ext cx="835418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Manrope "/>
              </a:rPr>
              <a:t>Our USP:</a:t>
            </a:r>
          </a:p>
          <a:p>
            <a:endParaRPr lang="en-US" sz="1600" dirty="0">
              <a:latin typeface="Manrope "/>
            </a:endParaRPr>
          </a:p>
          <a:p>
            <a:pPr lvl="3"/>
            <a:r>
              <a:rPr lang="en-US" dirty="0">
                <a:latin typeface="Manrope "/>
              </a:rPr>
              <a:t>The only AI solution combining comprehensive multi-condition brain analysis, visual explainability, and rural-first design at the cost of a basic health checkup.</a:t>
            </a:r>
          </a:p>
          <a:p>
            <a:endParaRPr lang="en-IN" dirty="0">
              <a:latin typeface="Manrope 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36D0AE-3632-A38F-9040-D9ADAA72BF97}"/>
              </a:ext>
            </a:extLst>
          </p:cNvPr>
          <p:cNvCxnSpPr>
            <a:cxnSpLocks/>
          </p:cNvCxnSpPr>
          <p:nvPr/>
        </p:nvCxnSpPr>
        <p:spPr>
          <a:xfrm>
            <a:off x="4021873" y="1033346"/>
            <a:ext cx="0" cy="2543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14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1" y="1217376"/>
            <a:ext cx="4260300" cy="3450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en-IN" b="1" dirty="0">
                <a:latin typeface="Manrope "/>
              </a:rPr>
              <a:t>7 AI-Powered Assessments:</a:t>
            </a:r>
          </a:p>
          <a:p>
            <a:endParaRPr lang="en-IN" b="1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Brain Age Estimation - Detects accelerated brain 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White Matter Disease Detection - Identifies vascular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Silent Stroke Identification - Finds unnoticed micro-strokes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Brain Atrophy Analysis - Measures brain shrinkage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Microbleed Detection - Spots tiny </a:t>
            </a:r>
            <a:r>
              <a:rPr lang="en-IN" dirty="0" err="1">
                <a:latin typeface="Manrope "/>
              </a:rPr>
              <a:t>hemorrhages</a:t>
            </a:r>
            <a:endParaRPr lang="en-IN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Stroke Risk Prediction - 5-year and 10-year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Dementia Risk Assessment - Alzheimer's and vascular dementia</a:t>
            </a:r>
          </a:p>
          <a:p>
            <a:endParaRPr lang="en-IN" dirty="0">
              <a:latin typeface="Manrope "/>
            </a:endParaRPr>
          </a:p>
          <a:p>
            <a:pPr lvl="0">
              <a:lnSpc>
                <a:spcPct val="115000"/>
              </a:lnSpc>
              <a:buSzPts val="935"/>
            </a:pPr>
            <a:endParaRPr dirty="0">
              <a:solidFill>
                <a:srgbClr val="434343"/>
              </a:solidFill>
              <a:latin typeface="Manrope 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F8CA6D-C667-A5AF-12CC-0329749DDB1A}"/>
              </a:ext>
            </a:extLst>
          </p:cNvPr>
          <p:cNvSpPr txBox="1"/>
          <p:nvPr/>
        </p:nvSpPr>
        <p:spPr>
          <a:xfrm>
            <a:off x="4624040" y="1234508"/>
            <a:ext cx="43877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Manrope "/>
              </a:rPr>
              <a:t>Patient-Centric Features:</a:t>
            </a:r>
          </a:p>
          <a:p>
            <a:endParaRPr lang="en-IN" b="1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Under 2 minutes total processing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Visual heatmaps showing affected brain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Dual reports - Technical for doctors, simple for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Percentile rankings compared to age-matched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Actionable recommendations for risk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Multi-language support for patient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WhatsApp/Email/PDF sharing for easy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Offline viewing for areas with poor connectivity</a:t>
            </a:r>
          </a:p>
          <a:p>
            <a:endParaRPr lang="en-IN" dirty="0">
              <a:latin typeface="Manrope 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3A9688-9E33-508F-C16F-5014025CDEC0}"/>
              </a:ext>
            </a:extLst>
          </p:cNvPr>
          <p:cNvCxnSpPr>
            <a:cxnSpLocks/>
          </p:cNvCxnSpPr>
          <p:nvPr/>
        </p:nvCxnSpPr>
        <p:spPr>
          <a:xfrm>
            <a:off x="4572000" y="1338147"/>
            <a:ext cx="0" cy="35312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7EF998-8A91-0C73-8493-C6B9B0875FF0}"/>
              </a:ext>
            </a:extLst>
          </p:cNvPr>
          <p:cNvSpPr txBox="1"/>
          <p:nvPr/>
        </p:nvSpPr>
        <p:spPr>
          <a:xfrm>
            <a:off x="2241930" y="649733"/>
            <a:ext cx="4839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Manrope "/>
              </a:rPr>
              <a:t>List of features offered by the solution:</a:t>
            </a:r>
          </a:p>
          <a:p>
            <a:pPr algn="ctr"/>
            <a:endParaRPr lang="en-IN" b="1" dirty="0">
              <a:latin typeface="Manrope 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095F199-A89E-AA3F-70E6-3B99671F8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>
            <a:extLst>
              <a:ext uri="{FF2B5EF4-FFF2-40B4-BE49-F238E27FC236}">
                <a16:creationId xmlns:a16="http://schemas.microsoft.com/office/drawing/2014/main" id="{F918D9C0-6DAB-610B-3889-86CA67E127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9879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73DD3-F9E1-D78A-3465-1BBA802A3675}"/>
              </a:ext>
            </a:extLst>
          </p:cNvPr>
          <p:cNvSpPr txBox="1"/>
          <p:nvPr/>
        </p:nvSpPr>
        <p:spPr>
          <a:xfrm>
            <a:off x="2639121" y="998002"/>
            <a:ext cx="3233853" cy="4019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   FRONTEND LAYER                    </a:t>
            </a:r>
            <a:b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</a:b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React Web App (PWA) + Mobile Interface</a:t>
            </a:r>
            <a:endParaRPr lang="en-IN" sz="900" dirty="0">
              <a:latin typeface="Manrope SemiBold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0C084-6925-9FC2-9DB1-33EA4574D9EA}"/>
              </a:ext>
            </a:extLst>
          </p:cNvPr>
          <p:cNvSpPr txBox="1"/>
          <p:nvPr/>
        </p:nvSpPr>
        <p:spPr>
          <a:xfrm>
            <a:off x="2639121" y="1654859"/>
            <a:ext cx="3233853" cy="401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         AWS API GATEWAY                  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  Authentication (Cognito)</a:t>
            </a:r>
            <a:endParaRPr lang="en-IN" sz="900" dirty="0">
              <a:latin typeface="Manrope SemiBold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97403-7129-8271-FE95-E8317C207D34}"/>
              </a:ext>
            </a:extLst>
          </p:cNvPr>
          <p:cNvSpPr txBox="1"/>
          <p:nvPr/>
        </p:nvSpPr>
        <p:spPr>
          <a:xfrm>
            <a:off x="2639123" y="2269449"/>
            <a:ext cx="3233852" cy="661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                   </a:t>
            </a: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PROCESSING LAYER</a:t>
            </a:r>
          </a:p>
          <a:p>
            <a:endParaRPr lang="en-GB" sz="700" b="1" dirty="0">
              <a:solidFill>
                <a:srgbClr val="202729"/>
              </a:solidFill>
              <a:latin typeface="Manrope SemiBold" panose="020B0604020202020204" charset="0"/>
              <a:sym typeface="Manrope"/>
            </a:endParaRPr>
          </a:p>
          <a:p>
            <a:endParaRPr lang="en-GB" sz="700" b="1" dirty="0">
              <a:solidFill>
                <a:srgbClr val="202729"/>
              </a:solidFill>
              <a:latin typeface="Manrope SemiBold" panose="020B0604020202020204" charset="0"/>
              <a:sym typeface="Manrope"/>
            </a:endParaRPr>
          </a:p>
          <a:p>
            <a:endParaRPr lang="en-GB" sz="700" b="1" dirty="0">
              <a:solidFill>
                <a:srgbClr val="202729"/>
              </a:solidFill>
              <a:latin typeface="Manrope SemiBold" panose="020B0604020202020204" charset="0"/>
              <a:sym typeface="Manrope"/>
            </a:endParaRPr>
          </a:p>
          <a:p>
            <a:endParaRPr lang="en-IN" sz="700" dirty="0">
              <a:latin typeface="Manrope SemiBold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CF471-4CCE-2F1A-7F8E-B467D2FE47CE}"/>
              </a:ext>
            </a:extLst>
          </p:cNvPr>
          <p:cNvSpPr txBox="1"/>
          <p:nvPr/>
        </p:nvSpPr>
        <p:spPr>
          <a:xfrm>
            <a:off x="2623788" y="3121105"/>
            <a:ext cx="3249186" cy="661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                               </a:t>
            </a: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AI MODELS</a:t>
            </a:r>
          </a:p>
          <a:p>
            <a:endParaRPr lang="en-GB" sz="700" b="1" dirty="0">
              <a:solidFill>
                <a:srgbClr val="202729"/>
              </a:solidFill>
              <a:latin typeface="Manrope SemiBold" panose="020B0604020202020204" charset="0"/>
              <a:sym typeface="Manrope"/>
            </a:endParaRPr>
          </a:p>
          <a:p>
            <a:endParaRPr lang="en-GB" sz="700" b="1" dirty="0">
              <a:solidFill>
                <a:srgbClr val="202729"/>
              </a:solidFill>
              <a:latin typeface="Manrope SemiBold" panose="020B0604020202020204" charset="0"/>
              <a:sym typeface="Manrope"/>
            </a:endParaRPr>
          </a:p>
          <a:p>
            <a:endParaRPr lang="en-GB" sz="700" b="1" dirty="0">
              <a:solidFill>
                <a:srgbClr val="202729"/>
              </a:solidFill>
              <a:latin typeface="Manrope SemiBold" panose="020B0604020202020204" charset="0"/>
              <a:sym typeface="Manrope"/>
            </a:endParaRPr>
          </a:p>
          <a:p>
            <a:endParaRPr lang="en-IN" sz="700" dirty="0">
              <a:latin typeface="Manrope SemiBold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3E05F-D8B3-B5B9-E2B5-C83AA804816E}"/>
              </a:ext>
            </a:extLst>
          </p:cNvPr>
          <p:cNvSpPr txBox="1"/>
          <p:nvPr/>
        </p:nvSpPr>
        <p:spPr>
          <a:xfrm>
            <a:off x="2623789" y="3965417"/>
            <a:ext cx="3249186" cy="401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GB" sz="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                         </a:t>
            </a: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STORAGE LAYER</a:t>
            </a:r>
            <a:r>
              <a:rPr lang="en-GB" sz="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GB" sz="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</a:t>
            </a: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S3 (MRI) | DynamoDB (Results) | RDS</a:t>
            </a:r>
            <a:endParaRPr lang="en-IN" sz="900" dirty="0">
              <a:latin typeface="Manrope SemiBold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763C5-C90F-DD80-E146-15324A7744AF}"/>
              </a:ext>
            </a:extLst>
          </p:cNvPr>
          <p:cNvSpPr txBox="1"/>
          <p:nvPr/>
        </p:nvSpPr>
        <p:spPr>
          <a:xfrm>
            <a:off x="2623788" y="4521012"/>
            <a:ext cx="3249186" cy="401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GB" sz="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                    </a:t>
            </a: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REPORTING LAYER</a:t>
            </a:r>
            <a:r>
              <a:rPr lang="en-GB" sz="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GB" sz="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                      </a:t>
            </a:r>
            <a:r>
              <a:rPr lang="en-GB" sz="9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Bedrock (Claude) + Explainability</a:t>
            </a:r>
            <a:endParaRPr lang="en-IN" sz="900" dirty="0">
              <a:latin typeface="Manrope SemiBold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32CB4-D675-5364-CC78-61DD97C10CDB}"/>
              </a:ext>
            </a:extLst>
          </p:cNvPr>
          <p:cNvSpPr txBox="1"/>
          <p:nvPr/>
        </p:nvSpPr>
        <p:spPr>
          <a:xfrm>
            <a:off x="2747568" y="2473336"/>
            <a:ext cx="3036198" cy="3671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GB" sz="8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  Lambda                                               MRI Preprocessing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GB" sz="8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Functions                                                    (FSL + ANTs)</a:t>
            </a:r>
            <a:endParaRPr lang="en-IN" sz="800" dirty="0">
              <a:latin typeface="Manrope SemiBold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1EF68E-47C7-380F-A0C8-61CF4DAC5563}"/>
              </a:ext>
            </a:extLst>
          </p:cNvPr>
          <p:cNvSpPr txBox="1"/>
          <p:nvPr/>
        </p:nvSpPr>
        <p:spPr>
          <a:xfrm>
            <a:off x="2725737" y="3330838"/>
            <a:ext cx="3058029" cy="3671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buSzPts val="935"/>
            </a:pPr>
            <a:r>
              <a:rPr lang="en-GB" sz="8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  Brain Age                                                  Multi-Task Model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GB" sz="8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              (ResNet50)                                              (U-Net + </a:t>
            </a:r>
            <a:r>
              <a:rPr lang="en-GB" sz="800" b="1" dirty="0" err="1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ResNet</a:t>
            </a:r>
            <a:r>
              <a:rPr lang="en-GB" sz="8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)</a:t>
            </a:r>
            <a:endParaRPr lang="en-IN" sz="800" dirty="0">
              <a:latin typeface="Manrope SemiBold" panose="020B060402020202020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68C98E7-18EA-1CF5-91C8-619AA63D5A12}"/>
              </a:ext>
            </a:extLst>
          </p:cNvPr>
          <p:cNvSpPr/>
          <p:nvPr/>
        </p:nvSpPr>
        <p:spPr>
          <a:xfrm>
            <a:off x="4080287" y="2634052"/>
            <a:ext cx="178419" cy="45719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BDBE463-79A4-A2CE-CEC7-5F522A443986}"/>
              </a:ext>
            </a:extLst>
          </p:cNvPr>
          <p:cNvSpPr/>
          <p:nvPr/>
        </p:nvSpPr>
        <p:spPr>
          <a:xfrm flipV="1">
            <a:off x="4128915" y="3498661"/>
            <a:ext cx="175350" cy="5573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4D8E047-7042-CD32-7E98-DC34C7F454DB}"/>
              </a:ext>
            </a:extLst>
          </p:cNvPr>
          <p:cNvSpPr/>
          <p:nvPr/>
        </p:nvSpPr>
        <p:spPr>
          <a:xfrm rot="5400000">
            <a:off x="4129644" y="1403711"/>
            <a:ext cx="126429" cy="2369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77B4E25-3DA6-5866-40B7-822A3AC174E9}"/>
              </a:ext>
            </a:extLst>
          </p:cNvPr>
          <p:cNvSpPr/>
          <p:nvPr/>
        </p:nvSpPr>
        <p:spPr>
          <a:xfrm rot="16200000" flipH="1">
            <a:off x="4135151" y="3732120"/>
            <a:ext cx="130097" cy="27958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CB5BE12-4920-B175-AE9F-BC1ABE459305}"/>
              </a:ext>
            </a:extLst>
          </p:cNvPr>
          <p:cNvSpPr/>
          <p:nvPr/>
        </p:nvSpPr>
        <p:spPr>
          <a:xfrm rot="5400000" flipV="1">
            <a:off x="4131224" y="2924180"/>
            <a:ext cx="149195" cy="21103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A434350-8E9A-27CA-FB1E-FB772AA497EB}"/>
              </a:ext>
            </a:extLst>
          </p:cNvPr>
          <p:cNvSpPr/>
          <p:nvPr/>
        </p:nvSpPr>
        <p:spPr>
          <a:xfrm rot="5400000">
            <a:off x="4118081" y="4298794"/>
            <a:ext cx="116775" cy="26974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DD74747-ECF2-E410-404A-8C058B2F7780}"/>
              </a:ext>
            </a:extLst>
          </p:cNvPr>
          <p:cNvSpPr/>
          <p:nvPr/>
        </p:nvSpPr>
        <p:spPr>
          <a:xfrm rot="5400000">
            <a:off x="4120906" y="2049907"/>
            <a:ext cx="145669" cy="23519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59E29-7E62-E17D-F05B-D96127BC2D38}"/>
              </a:ext>
            </a:extLst>
          </p:cNvPr>
          <p:cNvSpPr txBox="1"/>
          <p:nvPr/>
        </p:nvSpPr>
        <p:spPr>
          <a:xfrm>
            <a:off x="245327" y="556150"/>
            <a:ext cx="625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Manrope SemiBold" panose="020B0604020202020204" charset="0"/>
              </a:rPr>
              <a:t>Process Flow Diagram</a:t>
            </a:r>
          </a:p>
        </p:txBody>
      </p:sp>
    </p:spTree>
    <p:extLst>
      <p:ext uri="{BB962C8B-B14F-4D97-AF65-F5344CB8AC3E}">
        <p14:creationId xmlns:p14="http://schemas.microsoft.com/office/powerpoint/2010/main" val="106605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189780" y="473406"/>
            <a:ext cx="8954220" cy="4500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diagram: 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09041-4728-768B-4FCF-97F46B77B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80" y="853440"/>
            <a:ext cx="8764440" cy="412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237286" y="1189463"/>
            <a:ext cx="3851494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>
                <a:latin typeface="Manrope "/>
              </a:rPr>
              <a:t>Cloud-Native Healthcare Platform</a:t>
            </a:r>
          </a:p>
          <a:p>
            <a:endParaRPr lang="en-IN" dirty="0">
              <a:latin typeface="Manrope "/>
            </a:endParaRPr>
          </a:p>
          <a:p>
            <a:r>
              <a:rPr lang="en-IN" b="1" dirty="0">
                <a:latin typeface="Manrope "/>
              </a:rPr>
              <a:t>Frontend Layer:</a:t>
            </a:r>
            <a:endParaRPr lang="en-IN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React Progressive Web App with offline capability</a:t>
            </a:r>
          </a:p>
          <a:p>
            <a:r>
              <a:rPr lang="en-IN" dirty="0">
                <a:latin typeface="Manrope "/>
              </a:rPr>
              <a:t>Mobile and tablet responsive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anrope "/>
              </a:rPr>
              <a:t>API &amp; Security:</a:t>
            </a:r>
            <a:endParaRPr lang="en-IN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AWS API Gateway for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AWS Cognito for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AES-256 encryption</a:t>
            </a:r>
          </a:p>
          <a:p>
            <a:r>
              <a:rPr lang="en-IN" b="1" dirty="0">
                <a:latin typeface="Manrope "/>
              </a:rPr>
              <a:t>Processing Engine:</a:t>
            </a:r>
            <a:endParaRPr lang="en-IN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AWS Lambda for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AWS SageMaker for AI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FSL and ANTs for MRI preprocessing</a:t>
            </a:r>
          </a:p>
          <a:p>
            <a:pPr lvl="0">
              <a:lnSpc>
                <a:spcPct val="115000"/>
              </a:lnSpc>
              <a:buSzPts val="935"/>
            </a:pPr>
            <a:endParaRPr lang="en-IN" dirty="0">
              <a:solidFill>
                <a:srgbClr val="434343"/>
              </a:solidFill>
              <a:latin typeface="Manrope 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 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3B8EA-F8D5-3984-8C09-74127CE84DCE}"/>
              </a:ext>
            </a:extLst>
          </p:cNvPr>
          <p:cNvSpPr txBox="1"/>
          <p:nvPr/>
        </p:nvSpPr>
        <p:spPr>
          <a:xfrm>
            <a:off x="4572000" y="1634657"/>
            <a:ext cx="44010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Manrope "/>
              </a:rPr>
              <a:t>AI Models:</a:t>
            </a:r>
            <a:endParaRPr lang="en-IN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3D ResNet50 for brain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3D U-Net for lesion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Ensemble models for risk calculation</a:t>
            </a:r>
          </a:p>
          <a:p>
            <a:r>
              <a:rPr lang="en-IN" b="1" dirty="0">
                <a:latin typeface="Manrope "/>
              </a:rPr>
              <a:t>Storage:</a:t>
            </a:r>
            <a:endParaRPr lang="en-IN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Amazon S3 for encrypted MRI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DynamoDB for fast metadata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RDS for user and audit data</a:t>
            </a:r>
          </a:p>
          <a:p>
            <a:r>
              <a:rPr lang="en-IN" b="1" dirty="0">
                <a:latin typeface="Manrope "/>
              </a:rPr>
              <a:t>Reporting:</a:t>
            </a:r>
            <a:endParaRPr lang="en-IN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AWS Bedrock for multi-language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Grad-CAM for visual explanations</a:t>
            </a:r>
          </a:p>
          <a:p>
            <a:r>
              <a:rPr lang="en-IN" b="1" dirty="0">
                <a:latin typeface="Manrope "/>
              </a:rPr>
              <a:t>Monitoring:</a:t>
            </a:r>
            <a:endParaRPr lang="en-IN" dirty="0">
              <a:latin typeface="Manrop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CloudWatch for system health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Manrope "/>
              </a:rPr>
              <a:t>Auto-scaling for 1000+ concurrent scans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C3CEA-07A2-C635-1362-1E5D5B234135}"/>
              </a:ext>
            </a:extLst>
          </p:cNvPr>
          <p:cNvSpPr txBox="1"/>
          <p:nvPr/>
        </p:nvSpPr>
        <p:spPr>
          <a:xfrm>
            <a:off x="1923596" y="731211"/>
            <a:ext cx="593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52C988-4F18-B518-29B8-C1437722BF59}"/>
              </a:ext>
            </a:extLst>
          </p:cNvPr>
          <p:cNvSpPr txBox="1"/>
          <p:nvPr/>
        </p:nvSpPr>
        <p:spPr>
          <a:xfrm>
            <a:off x="2101568" y="633422"/>
            <a:ext cx="506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Manrope "/>
              </a:rPr>
              <a:t>Technologies to be used in the solution:</a:t>
            </a:r>
            <a:endParaRPr lang="en-IN" sz="1800" b="1" dirty="0">
              <a:latin typeface="Manrope 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8175F-48D5-0ED8-6C90-3F9D81E5DA67}"/>
              </a:ext>
            </a:extLst>
          </p:cNvPr>
          <p:cNvSpPr txBox="1"/>
          <p:nvPr/>
        </p:nvSpPr>
        <p:spPr>
          <a:xfrm>
            <a:off x="4352004" y="1116425"/>
            <a:ext cx="455577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Manrope "/>
              </a:rPr>
              <a:t>AWS Cloud Services: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Amazon SageMaker</a:t>
            </a:r>
            <a:r>
              <a:rPr lang="en-IN" sz="1200" dirty="0">
                <a:latin typeface="Manrope "/>
              </a:rPr>
              <a:t> - AI model hosting and inference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AWS Lambda</a:t>
            </a:r>
            <a:r>
              <a:rPr lang="en-IN" sz="1200" dirty="0">
                <a:latin typeface="Manrope "/>
              </a:rPr>
              <a:t> - Serverless processing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Amazon S3</a:t>
            </a:r>
            <a:r>
              <a:rPr lang="en-IN" sz="1200" dirty="0">
                <a:latin typeface="Manrope "/>
              </a:rPr>
              <a:t> - Encrypted medical data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Amazon DynamoDB</a:t>
            </a:r>
            <a:r>
              <a:rPr lang="en-IN" sz="1200" dirty="0">
                <a:latin typeface="Manrope "/>
              </a:rPr>
              <a:t> - Fast metadata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Amazon RDS</a:t>
            </a:r>
            <a:r>
              <a:rPr lang="en-IN" sz="1200" dirty="0">
                <a:latin typeface="Manrope "/>
              </a:rPr>
              <a:t> - Relational data for users and audits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AWS API Gateway</a:t>
            </a:r>
            <a:r>
              <a:rPr lang="en-IN" sz="1200" dirty="0">
                <a:latin typeface="Manrope "/>
              </a:rPr>
              <a:t> - RESTful API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AWS Cognito</a:t>
            </a:r>
            <a:r>
              <a:rPr lang="en-IN" sz="1200" dirty="0">
                <a:latin typeface="Manrope "/>
              </a:rPr>
              <a:t> - User authentication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Amazon Bedrock</a:t>
            </a:r>
            <a:r>
              <a:rPr lang="en-IN" sz="1200" dirty="0">
                <a:latin typeface="Manrope "/>
              </a:rPr>
              <a:t> - Natural language report generation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CloudWatch</a:t>
            </a:r>
            <a:r>
              <a:rPr lang="en-IN" sz="1200" dirty="0">
                <a:latin typeface="Manrope "/>
              </a:rPr>
              <a:t> - Monitoring and logging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AWS KMS</a:t>
            </a:r>
            <a:r>
              <a:rPr lang="en-IN" sz="1200" dirty="0">
                <a:latin typeface="Manrope "/>
              </a:rPr>
              <a:t> - Encryption key management</a:t>
            </a:r>
          </a:p>
          <a:p>
            <a:endParaRPr lang="en-IN" sz="1200" dirty="0">
              <a:latin typeface="Manrope "/>
            </a:endParaRPr>
          </a:p>
          <a:p>
            <a:r>
              <a:rPr lang="en-IN" b="1" dirty="0">
                <a:latin typeface="Manrope "/>
              </a:rPr>
              <a:t>Frontend &amp; Integration: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React 18 with TypeScript</a:t>
            </a:r>
            <a:r>
              <a:rPr lang="en-IN" sz="1200" dirty="0">
                <a:latin typeface="Manrope "/>
              </a:rPr>
              <a:t> - Modern web framework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Progressive Web App (PWA)</a:t>
            </a:r>
            <a:r>
              <a:rPr lang="en-IN" sz="1200" dirty="0">
                <a:latin typeface="Manrope "/>
              </a:rPr>
              <a:t> - Offline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Tailwind CSS</a:t>
            </a:r>
            <a:r>
              <a:rPr lang="en-IN" sz="1200" dirty="0">
                <a:latin typeface="Manrope "/>
              </a:rPr>
              <a:t> - Responsive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Chart.js</a:t>
            </a:r>
            <a:r>
              <a:rPr lang="en-IN" sz="1200" dirty="0">
                <a:latin typeface="Manrope "/>
              </a:rPr>
              <a:t> - Data visualizations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HL7 FHIR</a:t>
            </a:r>
            <a:r>
              <a:rPr lang="en-IN" sz="1200" dirty="0">
                <a:latin typeface="Manrope "/>
              </a:rPr>
              <a:t> - Healthcare data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DICOM Protocol</a:t>
            </a:r>
            <a:r>
              <a:rPr lang="en-IN" sz="1200" dirty="0">
                <a:latin typeface="Manrope "/>
              </a:rPr>
              <a:t> - Medical imaging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ED136-C973-8D2C-1975-ABD265B82151}"/>
              </a:ext>
            </a:extLst>
          </p:cNvPr>
          <p:cNvSpPr txBox="1"/>
          <p:nvPr/>
        </p:nvSpPr>
        <p:spPr>
          <a:xfrm>
            <a:off x="144277" y="1116425"/>
            <a:ext cx="420772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Manrope "/>
              </a:rPr>
              <a:t>AI &amp; Machine Learning: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 err="1">
                <a:latin typeface="Manrope "/>
              </a:rPr>
              <a:t>PyTorch</a:t>
            </a:r>
            <a:r>
              <a:rPr lang="en-IN" sz="1200" dirty="0">
                <a:latin typeface="Manrope "/>
              </a:rPr>
              <a:t> - Deep learning framework for 3D CNNs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3D ResNet50</a:t>
            </a:r>
            <a:r>
              <a:rPr lang="en-IN" sz="1200" dirty="0">
                <a:latin typeface="Manrope "/>
              </a:rPr>
              <a:t> - Feature extraction backbone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3D U-Net</a:t>
            </a:r>
            <a:r>
              <a:rPr lang="en-IN" sz="1200" dirty="0">
                <a:latin typeface="Manrope "/>
              </a:rPr>
              <a:t> - Lesion segmentation 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Grad-CAM</a:t>
            </a:r>
            <a:r>
              <a:rPr lang="en-IN" sz="1200" dirty="0">
                <a:latin typeface="Manrope "/>
              </a:rPr>
              <a:t> - Explainability visualizations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Ensemble Models</a:t>
            </a:r>
            <a:r>
              <a:rPr lang="en-IN" sz="1200" dirty="0">
                <a:latin typeface="Manrope "/>
              </a:rPr>
              <a:t> - Risk calculation combining multiple approaches</a:t>
            </a:r>
          </a:p>
          <a:p>
            <a:endParaRPr lang="en-IN" sz="1200" dirty="0">
              <a:latin typeface="Manrope "/>
            </a:endParaRPr>
          </a:p>
          <a:p>
            <a:r>
              <a:rPr lang="en-IN" b="1" dirty="0">
                <a:latin typeface="Manrope "/>
              </a:rPr>
              <a:t>Medical Image Processing: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FSL (FMRIB Software Library)</a:t>
            </a:r>
            <a:r>
              <a:rPr lang="en-IN" sz="1200" dirty="0">
                <a:latin typeface="Manrope "/>
              </a:rPr>
              <a:t> - Brain extraction and registration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ANTs (Advanced Normalization Tools)</a:t>
            </a:r>
            <a:r>
              <a:rPr lang="en-IN" sz="1200" dirty="0">
                <a:latin typeface="Manrope "/>
              </a:rPr>
              <a:t> - Image normalization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"/>
              </a:rPr>
              <a:t>DICOM &amp; </a:t>
            </a:r>
            <a:r>
              <a:rPr lang="en-IN" sz="1200" b="1" dirty="0" err="1">
                <a:latin typeface="Manrope "/>
              </a:rPr>
              <a:t>NIfTI</a:t>
            </a:r>
            <a:r>
              <a:rPr lang="en-IN" sz="1200" dirty="0">
                <a:latin typeface="Manrope "/>
              </a:rPr>
              <a:t> - Medical imaging format 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 err="1">
                <a:latin typeface="Manrope "/>
              </a:rPr>
              <a:t>SimpleITK</a:t>
            </a:r>
            <a:r>
              <a:rPr lang="en-IN" sz="1200" dirty="0">
                <a:latin typeface="Manrope "/>
              </a:rPr>
              <a:t> - Image processing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34537" y="1365362"/>
            <a:ext cx="4289502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PHASE 1 - HACKATHON PROTOTYPE (20 days):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 </a:t>
            </a:r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AWS Credits (Student): </a:t>
            </a: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$100 (FREE via AWS Educate)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 </a:t>
            </a:r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Google Drive Storage: </a:t>
            </a: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₹650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 </a:t>
            </a:r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Development: </a:t>
            </a: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₹0 (self-developed)</a:t>
            </a:r>
          </a:p>
          <a:p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TOTAL: </a:t>
            </a: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₹650 (~$8)</a:t>
            </a:r>
          </a:p>
          <a:p>
            <a:endParaRPr lang="en-GB" sz="1200" dirty="0">
              <a:solidFill>
                <a:srgbClr val="202729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  <a:p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PHASE 2 - CLINICAL VALIDATION (6 months):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 </a:t>
            </a:r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AWS Infrastructure: </a:t>
            </a: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₹50,000/month × 6 = ₹3,00,000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 </a:t>
            </a:r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Clinical Partnership (NIMHANS/AIIMS): </a:t>
            </a: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₹0 (collaboration)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 </a:t>
            </a:r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Regulatory Compliance: </a:t>
            </a: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₹2,00,000</a:t>
            </a:r>
          </a:p>
          <a:p>
            <a:r>
              <a:rPr lang="en-GB" sz="12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TOTAL: </a:t>
            </a:r>
            <a:r>
              <a:rPr lang="en-GB" sz="12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₹5,00,000 (~$6,000)</a:t>
            </a:r>
          </a:p>
          <a:p>
            <a:endParaRPr lang="en-GB" sz="1200" dirty="0">
              <a:solidFill>
                <a:srgbClr val="202729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425F1-B094-6502-CF40-3D20EC1CDF9A}"/>
              </a:ext>
            </a:extLst>
          </p:cNvPr>
          <p:cNvSpPr txBox="1"/>
          <p:nvPr/>
        </p:nvSpPr>
        <p:spPr>
          <a:xfrm>
            <a:off x="4958576" y="1365362"/>
            <a:ext cx="41076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PHASE 3 - PILOT DEPLOYMENT (Year 1):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</a:t>
            </a:r>
            <a:r>
              <a:rPr lang="en-GB" sz="1200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100 PHCs × ₹10,000 setup = ₹10,00,000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AWS (1,000 scans/day): </a:t>
            </a:r>
            <a:r>
              <a:rPr lang="en-GB" sz="1200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₹5,00,000/year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Training &amp; Support: </a:t>
            </a:r>
            <a:r>
              <a:rPr lang="en-GB" sz="1200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₹5,00,000</a:t>
            </a:r>
          </a:p>
          <a:p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TOTAL: </a:t>
            </a:r>
            <a:r>
              <a:rPr lang="en-GB" sz="1200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₹20,00,000 (~$24,000)</a:t>
            </a:r>
          </a:p>
          <a:p>
            <a:endParaRPr lang="en-GB" sz="1200" b="1" dirty="0">
              <a:solidFill>
                <a:srgbClr val="202729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  <a:p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OPERATIONAL COST PER SCAN: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AWS Processing: </a:t>
            </a:r>
            <a:r>
              <a:rPr lang="en-GB" sz="1200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₹150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 Support &amp; Maintenance: </a:t>
            </a:r>
            <a:r>
              <a:rPr lang="en-GB" sz="1200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₹50</a:t>
            </a:r>
          </a:p>
          <a:p>
            <a:endParaRPr lang="en-GB" sz="1200" b="1" dirty="0">
              <a:solidFill>
                <a:srgbClr val="202729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  <a:p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TOTAL: ₹200 per scan</a:t>
            </a:r>
          </a:p>
          <a:p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vs Traditional Screening: ₹</a:t>
            </a:r>
            <a:r>
              <a:rPr lang="en-GB" sz="1200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15,000</a:t>
            </a:r>
          </a:p>
          <a:p>
            <a:endParaRPr lang="en-GB" sz="1200" b="1" dirty="0">
              <a:solidFill>
                <a:srgbClr val="202729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  <a:p>
            <a:r>
              <a:rPr lang="en-GB" sz="12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ROI: </a:t>
            </a:r>
            <a:r>
              <a:rPr lang="en-GB" sz="1200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75x cost reduction</a:t>
            </a:r>
            <a:endParaRPr lang="en-GB" sz="1200" dirty="0">
              <a:solidFill>
                <a:srgbClr val="434343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  <a:p>
            <a:endParaRPr lang="en-IN" sz="1200" dirty="0">
              <a:latin typeface="Manrope SemiBold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FE077-808E-21B9-CAE1-BF3BF224E080}"/>
              </a:ext>
            </a:extLst>
          </p:cNvPr>
          <p:cNvSpPr txBox="1"/>
          <p:nvPr/>
        </p:nvSpPr>
        <p:spPr>
          <a:xfrm>
            <a:off x="2613380" y="731150"/>
            <a:ext cx="3779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Manrope SemiBold" panose="020B0604020202020204" charset="0"/>
              </a:rPr>
              <a:t>Estimated implementation cost</a:t>
            </a:r>
            <a:endParaRPr lang="en-IN" sz="1800" b="1" dirty="0">
              <a:latin typeface="Manrope SemiBold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2000" dirty="0">
                <a:latin typeface="Manrope "/>
              </a:rPr>
              <a:t>VISION</a:t>
            </a:r>
            <a:endParaRPr lang="en-GB" sz="1800" b="1" dirty="0">
              <a:solidFill>
                <a:srgbClr val="202729"/>
              </a:solidFill>
              <a:latin typeface="Manrope "/>
              <a:ea typeface="Manrope"/>
              <a:cs typeface="Manrope"/>
              <a:sym typeface="Manrope"/>
            </a:endParaRPr>
          </a:p>
          <a:p>
            <a:r>
              <a:rPr lang="en-US" b="1" dirty="0" err="1">
                <a:latin typeface="Manrope "/>
              </a:rPr>
              <a:t>NeuroScan</a:t>
            </a:r>
            <a:r>
              <a:rPr lang="en-US" b="1" dirty="0">
                <a:latin typeface="Manrope "/>
              </a:rPr>
              <a:t> AI: Preventing Strokes Across India</a:t>
            </a:r>
            <a:endParaRPr lang="en-US" dirty="0">
              <a:latin typeface="Manrope "/>
            </a:endParaRPr>
          </a:p>
          <a:p>
            <a:r>
              <a:rPr lang="en-US" b="1" dirty="0">
                <a:latin typeface="Manrope "/>
              </a:rPr>
              <a:t>Our Mission:</a:t>
            </a:r>
            <a:r>
              <a:rPr lang="en-US" dirty="0">
                <a:latin typeface="Manrope "/>
              </a:rPr>
              <a:t> Making expert neurological screening accessible to every Indian through AI and cloud computing.</a:t>
            </a:r>
          </a:p>
          <a:p>
            <a:endParaRPr lang="en-US" dirty="0">
              <a:latin typeface="Manrope "/>
            </a:endParaRPr>
          </a:p>
          <a:p>
            <a:r>
              <a:rPr lang="en-US" b="1" dirty="0">
                <a:latin typeface="Manrope "/>
              </a:rPr>
              <a:t>The Impact:</a:t>
            </a:r>
            <a:endParaRPr lang="en-US" dirty="0">
              <a:latin typeface="Manrope "/>
            </a:endParaRPr>
          </a:p>
          <a:p>
            <a:r>
              <a:rPr lang="en-US" dirty="0">
                <a:latin typeface="Manrope "/>
              </a:rPr>
              <a:t>Prevent 1.8 million strokes annually</a:t>
            </a:r>
          </a:p>
          <a:p>
            <a:r>
              <a:rPr lang="en-US" dirty="0">
                <a:latin typeface="Manrope "/>
              </a:rPr>
              <a:t>Save ₹3,750+ crores in healthcare costs</a:t>
            </a:r>
          </a:p>
          <a:p>
            <a:r>
              <a:rPr lang="en-US" dirty="0">
                <a:latin typeface="Manrope "/>
              </a:rPr>
              <a:t>Empower 25,000 Primary Health Centers</a:t>
            </a:r>
          </a:p>
          <a:p>
            <a:r>
              <a:rPr lang="en-US" dirty="0">
                <a:latin typeface="Manrope "/>
              </a:rPr>
              <a:t>Serve 700 million underserved rural Indians</a:t>
            </a:r>
          </a:p>
          <a:p>
            <a:endParaRPr lang="en-US" dirty="0">
              <a:latin typeface="Manrope "/>
            </a:endParaRPr>
          </a:p>
          <a:p>
            <a:r>
              <a:rPr lang="en-US" b="1" dirty="0">
                <a:latin typeface="Manrope "/>
              </a:rPr>
              <a:t>Why This Matters:</a:t>
            </a:r>
            <a:r>
              <a:rPr lang="en-US" dirty="0">
                <a:latin typeface="Manrope "/>
              </a:rPr>
              <a:t> Every 40 seconds, someone in India has a stroke. With </a:t>
            </a:r>
            <a:r>
              <a:rPr lang="en-US" dirty="0" err="1">
                <a:latin typeface="Manrope "/>
              </a:rPr>
              <a:t>NeuroScan</a:t>
            </a:r>
            <a:r>
              <a:rPr lang="en-US" dirty="0">
                <a:latin typeface="Manrope "/>
              </a:rPr>
              <a:t> AI, we identify risk years early and save lives. 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dirty="0">
              <a:solidFill>
                <a:srgbClr val="434343"/>
              </a:solidFill>
              <a:latin typeface="Manrope 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C2F73F7-DEF6-FE06-5CFB-B42CE0B2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>
            <a:extLst>
              <a:ext uri="{FF2B5EF4-FFF2-40B4-BE49-F238E27FC236}">
                <a16:creationId xmlns:a16="http://schemas.microsoft.com/office/drawing/2014/main" id="{08DF5F03-E3DD-CF81-661D-631370B294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039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>
            <a:extLst>
              <a:ext uri="{FF2B5EF4-FFF2-40B4-BE49-F238E27FC236}">
                <a16:creationId xmlns:a16="http://schemas.microsoft.com/office/drawing/2014/main" id="{646E22C3-A7C2-0C3D-0403-9464FC6A5EEC}"/>
              </a:ext>
            </a:extLst>
          </p:cNvPr>
          <p:cNvSpPr txBox="1"/>
          <p:nvPr/>
        </p:nvSpPr>
        <p:spPr>
          <a:xfrm>
            <a:off x="21770" y="478605"/>
            <a:ext cx="8980982" cy="214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b="1" dirty="0">
                <a:latin typeface="Manrope "/>
              </a:rPr>
              <a:t>Add as per the requirements for the hackathon: 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100" dirty="0">
                <a:latin typeface="Manrope "/>
              </a:rPr>
              <a:t>We use 3D convolutional neural networks for pattern recognition in brain MRI scans. This cannot be done with rule-based systems because the patterns are too complex and exist across billions of voxels in 3D space.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100" dirty="0">
                <a:latin typeface="Manrope "/>
              </a:rPr>
              <a:t>Why AI is Essential: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100" dirty="0">
                <a:latin typeface="Manrope "/>
              </a:rPr>
              <a:t>Radiologists miss 60 to 70 percent of subtle early warning signs that predict stroke 5 to 10 years in advance. AI can analyze the entire 3D brain volume comprehensively in ways humans cannot.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24A4D-3572-A947-F6EA-D21DC2659F15}"/>
              </a:ext>
            </a:extLst>
          </p:cNvPr>
          <p:cNvSpPr txBox="1"/>
          <p:nvPr/>
        </p:nvSpPr>
        <p:spPr>
          <a:xfrm>
            <a:off x="4014440" y="2279260"/>
            <a:ext cx="4988312" cy="291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100" b="1" dirty="0">
                <a:latin typeface="Manrope "/>
              </a:rPr>
              <a:t>Responsible AI Design: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Explainable predictions with visual heatmaps showing reasoning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Human-in-the-loop - AI assists, doctors make final decisions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Privacy-compliant with encryption and de-identification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Tested across diverse populations to reduce bias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Clear communication when system is uncertain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100" b="1" dirty="0">
                <a:latin typeface="Manrope "/>
              </a:rPr>
              <a:t>Training Data: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100" dirty="0">
                <a:latin typeface="Manrope "/>
              </a:rPr>
              <a:t>Public research datasets from OASIS, ADNI, and IXI containing over 13,000 brain scans. No private patient data used in development</a:t>
            </a:r>
            <a:endParaRPr lang="en-IN" sz="1100" dirty="0">
              <a:latin typeface="Manrope 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133DB-DCB6-F91A-E78D-AD32E98A8C14}"/>
              </a:ext>
            </a:extLst>
          </p:cNvPr>
          <p:cNvSpPr txBox="1"/>
          <p:nvPr/>
        </p:nvSpPr>
        <p:spPr>
          <a:xfrm>
            <a:off x="104078" y="2314130"/>
            <a:ext cx="4021873" cy="2896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100" b="1" dirty="0">
                <a:latin typeface="Manrope "/>
              </a:rPr>
              <a:t>AWS Services Integration: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SageMaker - AI model training and real-time deployment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Lambda - Serverless preprocessing automation  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S3 - Encrypted medical image storage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Bedrock with Claude - Natural language report generation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DynamoDB - Fast results storage and retrieval</a:t>
            </a:r>
          </a:p>
          <a:p>
            <a:pPr marL="171450" lvl="0" indent="-1714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100" dirty="0">
                <a:latin typeface="Manrope "/>
              </a:rPr>
              <a:t>Cognito - Secure user authentication</a:t>
            </a:r>
          </a:p>
          <a:p>
            <a:endParaRPr lang="en-IN" sz="1100" dirty="0">
              <a:latin typeface="Manrope "/>
            </a:endParaRPr>
          </a:p>
        </p:txBody>
      </p:sp>
    </p:spTree>
    <p:extLst>
      <p:ext uri="{BB962C8B-B14F-4D97-AF65-F5344CB8AC3E}">
        <p14:creationId xmlns:p14="http://schemas.microsoft.com/office/powerpoint/2010/main" val="355622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1242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Manrope </vt:lpstr>
      <vt:lpstr>Manrope SemiBold</vt:lpstr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Shravani</dc:creator>
  <cp:lastModifiedBy>Shravani R S</cp:lastModifiedBy>
  <cp:revision>2</cp:revision>
  <dcterms:modified xsi:type="dcterms:W3CDTF">2026-01-24T11:09:31Z</dcterms:modified>
</cp:coreProperties>
</file>